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8"/>
  </p:notesMasterIdLst>
  <p:sldIdLst>
    <p:sldId id="256" r:id="rId2"/>
    <p:sldId id="257" r:id="rId3"/>
    <p:sldId id="259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4975EC-B160-42B4-9973-7C0CC95482C1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B657DF-F5C5-4E62-88F8-B2D9102E5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304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657DF-F5C5-4E62-88F8-B2D9102E59E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138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4468E-8281-DD4C-258C-63206909B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57FAF6-617C-9B1F-A0CD-7CBC842F5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D96A2-4D20-DAC7-9716-95E7A80DB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0CA7F-C683-8B58-C95F-9DA96ACB8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657DF-F5C5-4E62-88F8-B2D9102E59E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6299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AFF3E-46D0-FE75-CBE4-4B84ECD1E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6295AC-D46E-EFEA-6FE5-900A61F47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EB5998-2629-CC3A-F108-A0266DD494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34ED4-9386-1A7D-DA44-23949146D4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657DF-F5C5-4E62-88F8-B2D9102E59E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7305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BEC0D-7282-F48D-6E9B-DA11C0433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AA1FE4-A8D8-E08D-B476-614D94205B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62B9F0-F7FC-2488-4AFD-C0F05995B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86E2D-A908-56A7-6282-5CDA0C5013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657DF-F5C5-4E62-88F8-B2D9102E59E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0854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59B06-C5DB-1B8D-ADF2-4A48A313E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4010F-D577-2A7A-8646-689202F80A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47A78D-9D18-060E-C0A1-B9CD83F5EC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6B0C7-E371-CC75-44F3-9846845E6A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657DF-F5C5-4E62-88F8-B2D9102E59E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1857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AE7FE-431D-A179-C12D-BFDADD3BF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0E9449-B6DE-73BA-7BA4-C4CBA3B45A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D93297-F7ED-DF8E-2510-E3938FF557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54C2A-FF2B-3B25-3028-60D9D5D1B9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657DF-F5C5-4E62-88F8-B2D9102E59E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9381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657DF-F5C5-4E62-88F8-B2D9102E59E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048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C8A9B0F1-409D-4125-8AD3-586A8C398B1E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1FB7ABAA-9E92-495A-891D-7EED863AF99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080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9B0F1-409D-4125-8AD3-586A8C398B1E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ABAA-9E92-495A-891D-7EED863AF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721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9B0F1-409D-4125-8AD3-586A8C398B1E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ABAA-9E92-495A-891D-7EED863AF99D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2965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9B0F1-409D-4125-8AD3-586A8C398B1E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ABAA-9E92-495A-891D-7EED863AF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6323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9B0F1-409D-4125-8AD3-586A8C398B1E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ABAA-9E92-495A-891D-7EED863AF99D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1926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9B0F1-409D-4125-8AD3-586A8C398B1E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ABAA-9E92-495A-891D-7EED863AF99D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7123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9B0F1-409D-4125-8AD3-586A8C398B1E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ABAA-9E92-495A-891D-7EED863AF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643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9B0F1-409D-4125-8AD3-586A8C398B1E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ABAA-9E92-495A-891D-7EED863AF99D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116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9B0F1-409D-4125-8AD3-586A8C398B1E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ABAA-9E92-495A-891D-7EED863AF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122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9B0F1-409D-4125-8AD3-586A8C398B1E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ABAA-9E92-495A-891D-7EED863AF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39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9B0F1-409D-4125-8AD3-586A8C398B1E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ABAA-9E92-495A-891D-7EED863AF99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3762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9B0F1-409D-4125-8AD3-586A8C398B1E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ABAA-9E92-495A-891D-7EED863AF99D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34822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9B0F1-409D-4125-8AD3-586A8C398B1E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ABAA-9E92-495A-891D-7EED863AF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7978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9B0F1-409D-4125-8AD3-586A8C398B1E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ABAA-9E92-495A-891D-7EED863AF99D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22422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9B0F1-409D-4125-8AD3-586A8C398B1E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ABAA-9E92-495A-891D-7EED863AF99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69969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9B0F1-409D-4125-8AD3-586A8C398B1E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ABAA-9E92-495A-891D-7EED863AF99D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17107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9B0F1-409D-4125-8AD3-586A8C398B1E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ABAA-9E92-495A-891D-7EED863AF99D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088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8A9B0F1-409D-4125-8AD3-586A8C398B1E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FB7ABAA-9E92-495A-891D-7EED863AF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384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150D2-9DA7-CD1A-0B9A-3AFBB6AB0F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4000" b="1" dirty="0"/>
              <a:t>INSURANCE ANALYTICS CAPSTONE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4A5B14-4484-BEAB-61B0-B6322E64DA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6600" y="3657597"/>
            <a:ext cx="2421467" cy="1871136"/>
          </a:xfrm>
        </p:spPr>
        <p:txBody>
          <a:bodyPr>
            <a:normAutofit/>
          </a:bodyPr>
          <a:lstStyle/>
          <a:p>
            <a:pPr algn="l"/>
            <a:r>
              <a:rPr lang="en-IN" b="1" dirty="0"/>
              <a:t>Presented by</a:t>
            </a:r>
            <a:br>
              <a:rPr lang="en-IN" dirty="0"/>
            </a:br>
            <a:r>
              <a:rPr lang="en-IN" dirty="0"/>
              <a:t>Manasa k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0806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F5FD2-D798-10CE-B006-B3C6E276C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711199"/>
            <a:ext cx="9601196" cy="1303867"/>
          </a:xfrm>
        </p:spPr>
        <p:txBody>
          <a:bodyPr>
            <a:normAutofit/>
          </a:bodyPr>
          <a:lstStyle/>
          <a:p>
            <a:r>
              <a:rPr lang="en-IN" sz="5000" b="1" dirty="0"/>
              <a:t>Project Objective</a:t>
            </a:r>
            <a:endParaRPr lang="en-IN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11121-90C7-6C1F-B01B-6A9998401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Analyse insurance business performance.</a:t>
            </a:r>
          </a:p>
          <a:p>
            <a:r>
              <a:rPr lang="en-IN" b="1" dirty="0"/>
              <a:t>Create Insurance Dashboard and Policy Dashboard.</a:t>
            </a:r>
          </a:p>
          <a:p>
            <a:r>
              <a:rPr lang="en-IN" b="1" dirty="0"/>
              <a:t>Track KPIs effectively.</a:t>
            </a:r>
          </a:p>
          <a:p>
            <a:r>
              <a:rPr lang="en-IN" b="1" dirty="0"/>
              <a:t>Enable data-driven decisions.</a:t>
            </a:r>
          </a:p>
          <a:p>
            <a:r>
              <a:rPr lang="en-IN" b="1" dirty="0"/>
              <a:t>Improve operational efficiency.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1807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F9228-41E1-1A6D-58EF-2F1D7E581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5600" b="1" dirty="0"/>
              <a:t>Dataset Overview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DEC3E-8FE0-7DE1-56AB-97CF1911A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Policy Data</a:t>
            </a:r>
          </a:p>
          <a:p>
            <a:r>
              <a:rPr lang="en-IN" b="1" dirty="0"/>
              <a:t>Customer Data</a:t>
            </a:r>
          </a:p>
          <a:p>
            <a:r>
              <a:rPr lang="en-IN" b="1" dirty="0"/>
              <a:t>Claims Data</a:t>
            </a:r>
          </a:p>
          <a:p>
            <a:r>
              <a:rPr lang="en-IN" b="1" dirty="0"/>
              <a:t>Invoice Data</a:t>
            </a:r>
          </a:p>
          <a:p>
            <a:r>
              <a:rPr lang="en-IN" b="1" dirty="0"/>
              <a:t>Opportunity Data</a:t>
            </a:r>
          </a:p>
          <a:p>
            <a:r>
              <a:rPr lang="en-IN" b="1" dirty="0"/>
              <a:t>Meeting Data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08520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708B7-6973-BFBC-5D9F-3785D0BBF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5600" b="1" dirty="0"/>
              <a:t>Project 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D64F4-556F-E242-4180-7E41BC750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Developed two dashboards:</a:t>
            </a:r>
          </a:p>
          <a:p>
            <a:pPr lvl="1"/>
            <a:r>
              <a:rPr lang="en-IN" b="1" dirty="0"/>
              <a:t>Insurance Dashboard</a:t>
            </a:r>
          </a:p>
          <a:p>
            <a:pPr lvl="1"/>
            <a:r>
              <a:rPr lang="en-IN" b="1" dirty="0"/>
              <a:t>Policy Dashboard</a:t>
            </a:r>
          </a:p>
          <a:p>
            <a:r>
              <a:rPr lang="en-IN" b="1" dirty="0"/>
              <a:t>Used Excel, Tableau, and Power BI.</a:t>
            </a:r>
          </a:p>
          <a:p>
            <a:r>
              <a:rPr lang="en-IN" b="1" dirty="0"/>
              <a:t>Built interactive visualisations.</a:t>
            </a:r>
          </a:p>
          <a:p>
            <a:r>
              <a:rPr lang="en-IN" b="1" dirty="0"/>
              <a:t>Generated business insights through KPIs.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67646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7D47CAC6-1E0C-4D51-58F2-299FF3DC91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2" t="24742" r="30406" b="11535"/>
          <a:stretch>
            <a:fillRect/>
          </a:stretch>
        </p:blipFill>
        <p:spPr>
          <a:xfrm>
            <a:off x="974514" y="1617133"/>
            <a:ext cx="10242972" cy="4499187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B4A931F-DE32-74FE-BDDB-6AE49715D72F}"/>
              </a:ext>
            </a:extLst>
          </p:cNvPr>
          <p:cNvSpPr/>
          <p:nvPr/>
        </p:nvSpPr>
        <p:spPr>
          <a:xfrm>
            <a:off x="974514" y="736600"/>
            <a:ext cx="10242972" cy="677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6B23FA-CB4F-514F-F08F-DC668F9350E4}"/>
              </a:ext>
            </a:extLst>
          </p:cNvPr>
          <p:cNvSpPr/>
          <p:nvPr/>
        </p:nvSpPr>
        <p:spPr>
          <a:xfrm>
            <a:off x="889000" y="736600"/>
            <a:ext cx="10328486" cy="677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000" b="1" dirty="0">
                <a:solidFill>
                  <a:schemeClr val="tx1"/>
                </a:solidFill>
              </a:rPr>
              <a:t>Excel Insurance Dashboard</a:t>
            </a:r>
          </a:p>
        </p:txBody>
      </p:sp>
    </p:spTree>
    <p:extLst>
      <p:ext uri="{BB962C8B-B14F-4D97-AF65-F5344CB8AC3E}">
        <p14:creationId xmlns:p14="http://schemas.microsoft.com/office/powerpoint/2010/main" val="80928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4B48B-4462-377E-8A4E-40AFEED0F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B3F470-81EC-FAE4-A0A3-3F5DF84D73AC}"/>
              </a:ext>
            </a:extLst>
          </p:cNvPr>
          <p:cNvSpPr/>
          <p:nvPr/>
        </p:nvSpPr>
        <p:spPr>
          <a:xfrm>
            <a:off x="974514" y="736600"/>
            <a:ext cx="10242972" cy="677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D4DADE-06F7-440E-8170-D71A8C855562}"/>
              </a:ext>
            </a:extLst>
          </p:cNvPr>
          <p:cNvSpPr/>
          <p:nvPr/>
        </p:nvSpPr>
        <p:spPr>
          <a:xfrm>
            <a:off x="889000" y="736600"/>
            <a:ext cx="10328486" cy="677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000" b="1" dirty="0">
                <a:solidFill>
                  <a:schemeClr val="tx1"/>
                </a:solidFill>
              </a:rPr>
              <a:t>Excel Policy 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538D86-D303-5477-F0D6-AD579DD695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9000" y="1600200"/>
            <a:ext cx="10364098" cy="45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202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B69EF-1AAC-50AA-A9D1-41E251E36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3987A34C-7BFF-9BE1-0A5E-30B248366E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33" b="6433"/>
          <a:stretch/>
        </p:blipFill>
        <p:spPr>
          <a:xfrm>
            <a:off x="974514" y="1553377"/>
            <a:ext cx="10242972" cy="4562943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4DE89CB-8626-6EC4-7A50-CC6D77EE23A0}"/>
              </a:ext>
            </a:extLst>
          </p:cNvPr>
          <p:cNvSpPr/>
          <p:nvPr/>
        </p:nvSpPr>
        <p:spPr>
          <a:xfrm>
            <a:off x="974514" y="736600"/>
            <a:ext cx="10242972" cy="677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DB87BF-B5A8-6543-169D-5A74C8183E2C}"/>
              </a:ext>
            </a:extLst>
          </p:cNvPr>
          <p:cNvSpPr/>
          <p:nvPr/>
        </p:nvSpPr>
        <p:spPr>
          <a:xfrm>
            <a:off x="889000" y="736600"/>
            <a:ext cx="10328486" cy="677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000" b="1" dirty="0">
                <a:solidFill>
                  <a:schemeClr val="tx1"/>
                </a:solidFill>
              </a:rPr>
              <a:t>Tableau Insurance Dashboard</a:t>
            </a:r>
          </a:p>
        </p:txBody>
      </p:sp>
    </p:spTree>
    <p:extLst>
      <p:ext uri="{BB962C8B-B14F-4D97-AF65-F5344CB8AC3E}">
        <p14:creationId xmlns:p14="http://schemas.microsoft.com/office/powerpoint/2010/main" val="1180292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CB307-D298-09BB-5BAD-22CA2EFCA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E6916570-056E-2982-F0EE-E22574B373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3" b="7063"/>
          <a:stretch/>
        </p:blipFill>
        <p:spPr>
          <a:xfrm>
            <a:off x="974514" y="1553377"/>
            <a:ext cx="10242972" cy="4562943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FEAA096-3864-9810-F234-A39B0EF0D3ED}"/>
              </a:ext>
            </a:extLst>
          </p:cNvPr>
          <p:cNvSpPr/>
          <p:nvPr/>
        </p:nvSpPr>
        <p:spPr>
          <a:xfrm>
            <a:off x="974514" y="736600"/>
            <a:ext cx="10242972" cy="677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792415-9642-E09F-C89A-808DF4216BD3}"/>
              </a:ext>
            </a:extLst>
          </p:cNvPr>
          <p:cNvSpPr/>
          <p:nvPr/>
        </p:nvSpPr>
        <p:spPr>
          <a:xfrm>
            <a:off x="889000" y="736599"/>
            <a:ext cx="10328486" cy="677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000" b="1" dirty="0">
                <a:solidFill>
                  <a:schemeClr val="tx1"/>
                </a:solidFill>
              </a:rPr>
              <a:t>Tableau Policy Dashboard</a:t>
            </a:r>
          </a:p>
        </p:txBody>
      </p:sp>
    </p:spTree>
    <p:extLst>
      <p:ext uri="{BB962C8B-B14F-4D97-AF65-F5344CB8AC3E}">
        <p14:creationId xmlns:p14="http://schemas.microsoft.com/office/powerpoint/2010/main" val="759544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044A5-4E8B-05E8-766B-058280A77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8CDB01C0-04E5-FB5F-F97A-DBD447A686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92" r="2884" b="8203"/>
          <a:stretch>
            <a:fillRect/>
          </a:stretch>
        </p:blipFill>
        <p:spPr>
          <a:xfrm>
            <a:off x="974514" y="1574801"/>
            <a:ext cx="10242972" cy="4546600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E31F8A0-0408-CE38-001E-E3E3AD768CC8}"/>
              </a:ext>
            </a:extLst>
          </p:cNvPr>
          <p:cNvSpPr/>
          <p:nvPr/>
        </p:nvSpPr>
        <p:spPr>
          <a:xfrm>
            <a:off x="974514" y="736600"/>
            <a:ext cx="10242972" cy="677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284B61-F078-E470-7E42-ADD6F9AB8F43}"/>
              </a:ext>
            </a:extLst>
          </p:cNvPr>
          <p:cNvSpPr/>
          <p:nvPr/>
        </p:nvSpPr>
        <p:spPr>
          <a:xfrm>
            <a:off x="889000" y="736600"/>
            <a:ext cx="10328486" cy="677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000" b="1" dirty="0">
                <a:solidFill>
                  <a:schemeClr val="tx1"/>
                </a:solidFill>
              </a:rPr>
              <a:t>Power BI Insurance Dashboard</a:t>
            </a:r>
          </a:p>
        </p:txBody>
      </p:sp>
    </p:spTree>
    <p:extLst>
      <p:ext uri="{BB962C8B-B14F-4D97-AF65-F5344CB8AC3E}">
        <p14:creationId xmlns:p14="http://schemas.microsoft.com/office/powerpoint/2010/main" val="1618700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5AB2C-C901-CB6F-ED82-00100FF34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7508AF19-3398-E43F-1A65-AAAABCEA87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" b="-331"/>
          <a:stretch>
            <a:fillRect/>
          </a:stretch>
        </p:blipFill>
        <p:spPr>
          <a:xfrm>
            <a:off x="931757" y="1617134"/>
            <a:ext cx="10242972" cy="4504266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F566630-9222-D88D-CAC7-158AC0DBC228}"/>
              </a:ext>
            </a:extLst>
          </p:cNvPr>
          <p:cNvSpPr/>
          <p:nvPr/>
        </p:nvSpPr>
        <p:spPr>
          <a:xfrm>
            <a:off x="974514" y="736600"/>
            <a:ext cx="10242972" cy="677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6430D4-E9A8-95A1-4625-73E436139FD5}"/>
              </a:ext>
            </a:extLst>
          </p:cNvPr>
          <p:cNvSpPr/>
          <p:nvPr/>
        </p:nvSpPr>
        <p:spPr>
          <a:xfrm>
            <a:off x="889000" y="736600"/>
            <a:ext cx="10328486" cy="677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000" b="1" dirty="0">
                <a:solidFill>
                  <a:schemeClr val="tx1"/>
                </a:solidFill>
              </a:rPr>
              <a:t>Power BI Policy Dashboard</a:t>
            </a:r>
          </a:p>
        </p:txBody>
      </p:sp>
    </p:spTree>
    <p:extLst>
      <p:ext uri="{BB962C8B-B14F-4D97-AF65-F5344CB8AC3E}">
        <p14:creationId xmlns:p14="http://schemas.microsoft.com/office/powerpoint/2010/main" val="3987736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5979-CA63-CDE2-6CF8-EEA3ACCE3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KPI Categories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33837-09D0-D2DD-5A8B-EB572B86E1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Insurance Dashboard</a:t>
            </a:r>
          </a:p>
          <a:p>
            <a:r>
              <a:rPr lang="en-IN" dirty="0"/>
              <a:t>Performance KPIs</a:t>
            </a:r>
          </a:p>
          <a:p>
            <a:r>
              <a:rPr lang="en-IN" dirty="0"/>
              <a:t>Pipeline KPIs</a:t>
            </a:r>
          </a:p>
          <a:p>
            <a:r>
              <a:rPr lang="en-IN" dirty="0"/>
              <a:t>Activity KPIs</a:t>
            </a:r>
          </a:p>
          <a:p>
            <a:r>
              <a:rPr lang="en-IN" dirty="0"/>
              <a:t>Invoice KPIs</a:t>
            </a:r>
          </a:p>
          <a:p>
            <a:r>
              <a:rPr lang="en-IN" dirty="0"/>
              <a:t>Client &amp; Policy KPIs</a:t>
            </a:r>
          </a:p>
          <a:p>
            <a:r>
              <a:rPr lang="en-IN" dirty="0"/>
              <a:t>Branch KPIs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8FDA7E-6E0F-BC59-D292-C0B6D8C5EE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Policy Dashboard</a:t>
            </a:r>
          </a:p>
          <a:p>
            <a:r>
              <a:rPr lang="en-IN" dirty="0"/>
              <a:t>Policy Metrics</a:t>
            </a:r>
          </a:p>
          <a:p>
            <a:r>
              <a:rPr lang="en-IN" dirty="0"/>
              <a:t>Customer Metrics</a:t>
            </a:r>
          </a:p>
          <a:p>
            <a:r>
              <a:rPr lang="en-IN" dirty="0"/>
              <a:t>Premium Metrics</a:t>
            </a:r>
          </a:p>
          <a:p>
            <a:r>
              <a:rPr lang="en-IN" dirty="0"/>
              <a:t>Claims Metrics</a:t>
            </a:r>
          </a:p>
          <a:p>
            <a:r>
              <a:rPr lang="en-IN" dirty="0"/>
              <a:t>Payment Metrics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8966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740D1-3F49-F2AD-D43C-D1691560F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Key Business Insights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6B63E-E8A6-083E-63C7-A54D38FCD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Top Performing Branch</a:t>
            </a:r>
          </a:p>
          <a:p>
            <a:r>
              <a:rPr lang="en-IN" b="1" dirty="0"/>
              <a:t>Highest Revenue Category</a:t>
            </a:r>
          </a:p>
          <a:p>
            <a:r>
              <a:rPr lang="en-IN" b="1" dirty="0"/>
              <a:t>Best Conversion Rate</a:t>
            </a:r>
          </a:p>
          <a:p>
            <a:r>
              <a:rPr lang="en-IN" b="1" dirty="0"/>
              <a:t>Claim Trends</a:t>
            </a:r>
          </a:p>
          <a:p>
            <a:r>
              <a:rPr lang="en-IN" b="1" dirty="0"/>
              <a:t>Customer Distribution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94170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867CA-1C9B-294B-EFD6-0359F7398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Challenges Faced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7D03A-CC6C-1DF4-C323-059A6FB2C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Data Cleaning Issues</a:t>
            </a:r>
          </a:p>
          <a:p>
            <a:r>
              <a:rPr lang="en-IN" b="1" dirty="0"/>
              <a:t>Missing Values</a:t>
            </a:r>
          </a:p>
          <a:p>
            <a:r>
              <a:rPr lang="en-IN" b="1" dirty="0"/>
              <a:t>Data Integration Challenges</a:t>
            </a:r>
          </a:p>
          <a:p>
            <a:r>
              <a:rPr lang="en-IN" b="1" dirty="0"/>
              <a:t>Dashboard Design Complexity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874381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5F522-13B7-2166-7830-697DEF3BF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Recommendations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13952-7752-8043-6C8D-533BE7F78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Improve Claim Processing</a:t>
            </a:r>
          </a:p>
          <a:p>
            <a:r>
              <a:rPr lang="en-IN" b="1" dirty="0"/>
              <a:t>Focus on High Revenue Segments</a:t>
            </a:r>
          </a:p>
          <a:p>
            <a:r>
              <a:rPr lang="en-IN" b="1" dirty="0"/>
              <a:t>Increase Customer Retention</a:t>
            </a:r>
          </a:p>
          <a:p>
            <a:r>
              <a:rPr lang="en-IN" b="1" dirty="0"/>
              <a:t>Monitor KPIs Regularly</a:t>
            </a:r>
          </a:p>
          <a:p>
            <a:pPr marL="0" indent="0">
              <a:buNone/>
            </a:pPr>
            <a:br>
              <a:rPr lang="en-IN" b="1" dirty="0"/>
            </a:b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157034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B2F2C-2951-991F-6F92-4CA9093AB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Conclusion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7FF05-8C24-CB6C-AB2C-BFD41163D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Successfully built Insurance and Policy Dashboards.</a:t>
            </a:r>
          </a:p>
          <a:p>
            <a:r>
              <a:rPr lang="en-IN" b="1" dirty="0"/>
              <a:t>Generated meaningful business insights.</a:t>
            </a:r>
          </a:p>
          <a:p>
            <a:r>
              <a:rPr lang="en-IN" b="1" dirty="0"/>
              <a:t>Improved visibility into insurance performance.</a:t>
            </a:r>
          </a:p>
          <a:p>
            <a:r>
              <a:rPr lang="en-IN" b="1" dirty="0"/>
              <a:t>Supports strategic decision-making.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617364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DEF75C-976D-A2D2-E5B6-49C211768798}"/>
              </a:ext>
            </a:extLst>
          </p:cNvPr>
          <p:cNvSpPr/>
          <p:nvPr/>
        </p:nvSpPr>
        <p:spPr>
          <a:xfrm>
            <a:off x="1752599" y="1422400"/>
            <a:ext cx="8746067" cy="4013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0" b="1" dirty="0">
                <a:solidFill>
                  <a:schemeClr val="tx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733371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63</TotalTime>
  <Words>214</Words>
  <Application>Microsoft Office PowerPoint</Application>
  <PresentationFormat>Widescreen</PresentationFormat>
  <Paragraphs>72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Garamond</vt:lpstr>
      <vt:lpstr>Organic</vt:lpstr>
      <vt:lpstr>INSURANCE ANALYTICS CAPSTONE PROJECT</vt:lpstr>
      <vt:lpstr>Project Objective</vt:lpstr>
      <vt:lpstr>Dataset Overview </vt:lpstr>
      <vt:lpstr>Project Summary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 Categories </vt:lpstr>
      <vt:lpstr>Key Business Insights </vt:lpstr>
      <vt:lpstr>Challenges Faced </vt:lpstr>
      <vt:lpstr>Recommendations 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Navya Kaithoju</dc:creator>
  <cp:lastModifiedBy>Manasa K</cp:lastModifiedBy>
  <cp:revision>2</cp:revision>
  <dcterms:created xsi:type="dcterms:W3CDTF">2026-06-17T14:18:06Z</dcterms:created>
  <dcterms:modified xsi:type="dcterms:W3CDTF">2026-07-10T07:20:29Z</dcterms:modified>
</cp:coreProperties>
</file>